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i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4400" b="1">
                <a:solidFill>
                  <a:srgbClr val="FFFFFF"/>
                </a:solidFill>
              </a:defRPr>
            </a:pPr>
            <a:r>
              <a:t>文旅多 Agent 行程规划系统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000" b="0">
                <a:solidFill>
                  <a:srgbClr val="D0E4FF"/>
                </a:solidFill>
              </a:defRPr>
            </a:pPr>
            <a:r>
              <a:t>基于 8 个 AI Agent 协作的文旅资源调研与个性化行程规划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B0D0F0"/>
                </a:solidFill>
              </a:defRPr>
            </a:pPr>
            <a:r>
              <a:t>真实数据 · 断点续传 · 图记忆 · 运行态强干预 · HITL 人工审核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300" b="0">
                <a:solidFill>
                  <a:srgbClr val="90B0D0"/>
                </a:solidFill>
              </a:defRPr>
            </a:pPr>
            <a:r>
              <a:t>版本 v2.1 · 2026-08-29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1">
                <a:solidFill>
                  <a:srgbClr val="1F2D3D"/>
                </a:solidFill>
              </a:defRPr>
            </a:pPr>
            <a: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663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459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48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546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605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663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500" b="0">
                <a:solidFill>
                  <a:srgbClr val="1F2D3D"/>
                </a:solidFill>
              </a:defRPr>
            </a:pPr>
            <a:r>
              <a:t>15  总结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2/16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传统文旅行业靠人工查资料 + Excel 排行程，一个行程从需求到方案需几小时到一整天。旅行顾问要手动搜景点、查口碑、排行程、算预算、查风险。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47188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47188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691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04388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① 数据静态过时（查到的信息可能已过期）② 无风险拦截（可能推荐差评景点/超预算/夜行路段）③ 无容灾（查到一半崩溃全丢）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77056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77056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34256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人工智能课程「多 Agent 协同」工单任务，分两期：多Agent-2（文旅规划主体）+ 工单7（图记忆与强干预叠加）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06924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06924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1665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64124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1 人独立完成，v1.0 共 7 人日 + 工单7 增量 3 人日，需做大量「最小增量、最大复用」的取舍决策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3/16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用户第 1 次说「海鲜严重过敏」被记住，两周后再来规划，系统忘了，又推荐海鲜餐厅 —— 缺长期记忆（工单7 点名痛点）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运行中某景点「台风停运」，系统不知道，仍按旧信息继续编排 —— 缺运行态纠偏能力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8 个 Agent 跑几分钟，中途进程崩溃，前面所有工作全丢，得从头再来 —— 缺断点续传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人工排行程可能无意推荐差评景点、超预算 20%、高危夜行路段 —— 缺 HITL 人机门控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早期用写死种子数据 + Mock LLM，景点路线推理全是假的，没有真实价值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4/16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把「人工排行程」改造成「AI 自动调研工厂」：输入一句自然语言需求，8 个 AI Agent 自动完成调研、编排、预算、报告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47188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47188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691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04388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① 8 Agent 协同编排 ② planning-with-files 断点续传 ③ 五状态机+原子写入 ④ HITL 人工审核 ⑤ 安全（内容过滤+防注入）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77056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77056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34256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① 共享图记忆（跨行程沉淀知识图谱，修复语义遗忘）② 运行态强干预（主管带验签修改运行中状态）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06924"/>
            <a:ext cx="11247120" cy="1156716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06924"/>
            <a:ext cx="73152" cy="1156716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1665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性能红线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64124"/>
            <a:ext cx="10789920" cy="59783106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QPS≥200 / P95&lt;300ms / 错误率&lt;0.1% / 检索&lt;150ms / 干预成功率=100%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5/16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四、技术难点（7 个）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原子写入(temp+fsync+replace) + checksum 校验 + 快照回退 + 幂等恢复，保证任何时刻崩溃不丢进度、不重复执行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20101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20101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982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77301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Redis Streams consumer group + PEL + XAUTOCLAIM，崩溃 worker 的未确认消息自动转给存活 worker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22882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22882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3261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280082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Lua CAS 抢占 + DB 条件更新兜底 + 会话租约锁，锁降冲突、DB 条件更新保正确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25663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5663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53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82863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先 commit 再入队，否则 Worker 抢跑报「行程不存在」—— 容器化多进程才暴露的坑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28444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228444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817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图记忆抽取检索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85644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真实 LLM 抽取任意过敏原（不限白名单）+ 向量/图双路检索 + 缓存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931225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931225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409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强干预安全原子性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88425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HMAC 验签 + nonce 防重放 + SETNX 锁 + 三写一事务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634006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634006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74373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真实数据接入的坑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91206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 key 未拼参数/百炼 json_object 需含 json 字/nginx 缓存旧 IP 致 502，均被真实部署暴露并修复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6/16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高德(景点/路线/天气/营业时间/评分/图片) + 百炼LLM(qwen3.7-flash) + 虚拟房价，无假数据假智能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20101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20101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982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完整行程规划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77301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每日三餐餐饮推荐 + 景点图片(可放大) + 营业时间 + 出发/返程日期自动算天数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22882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22882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93261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性能大幅超标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280082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QPS 1109(5.5x)、P95 35ms(快8x)、检索0.3ms(快500x)、干预成功率100%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25663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25663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353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工程细节扎实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82863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原子写+checksum+快照、Lua CAS+DB兜底、防抖+幂等+超时+心跳、密钥安全注入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28444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228444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3817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容器化暴露真bug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685644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写入-入队竞态、nginx 502，被真实部署发现并根治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931225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931225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0409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工单7全量落地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88425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图记忆+强干预，数据模型/引擎/API/前端/测试/文档完整闭环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634006"/>
            <a:ext cx="11247120" cy="62962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634006"/>
            <a:ext cx="73152" cy="62962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74373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精致前端视觉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091206"/>
            <a:ext cx="10789920" cy="1158627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真实风景壁纸 + 状态看板友好化(进度条+步骤卡片)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7/16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React 18 + TypeScript + AntD，6 个页面（登录/工作台/行程列表/详情/审核台/记忆图谱），WebSocket 实时推送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37231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37231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695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4431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FastAPI + JWT/RBAC + 统一错误码 + HMAC 验签，只做入队/查询，不执行长任务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7142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57142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687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4342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高德服务、原子写、分布式锁、队列、恢复、安全过滤等可复用逻辑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3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77053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8678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34253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LangGraph StateGraph + 8 节点 DAG + 条件边 + 记忆抽取 + 干预补丁读取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96964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96964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669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54164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PostgreSQL(10表权威) + Redis(Streams/锁/缓存) + 文件(断点恢复源)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6875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16875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2660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74075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高德地图(地理编码/POI/路径/天气/营业时间/图片) + 阿里云百炼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8/16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七、8 个 Agent 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输入需求→结构化偏好(目的地/天数/预算/出行人/过敏)，真实 LLM 解析 + 记忆抽取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32254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32254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198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89454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CoT 拆解 ≥8 条调研任务(景点/公园/博物馆/酒店/餐厅/购物/交通)，真实 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47188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47188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5691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104388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逐项调高德 POI 搜索真实景点/酒店/餐厅，ReAct + 安全过滤 + 断点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62122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62122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37185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19322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对真实 POI 做风险识别，规则引擎打分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77056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877056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9867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⑤ Itinerary 日程编排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334256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按天编排 + 高德路径规划真实路线 + 三餐餐饮 + 读取干预补丁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91990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91990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60171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⑥ Budget 预算计算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49190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分项汇总 + 虚拟房价，判断超预算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106924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106924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21665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⑦ Human Review 审核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64124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风险场景挂起路由人工审批，不调 LLM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721858"/>
            <a:ext cx="11247120" cy="54178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721858"/>
            <a:ext cx="73152" cy="54178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83158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⑧ Report 报告生成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179058"/>
            <a:ext cx="10789920" cy="355354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汇总生成报告(天气+路线+行程+餐饮+酒店+预算)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9/16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temp→fsync→os.replace→目录fsync，任何时刻崩溃文件要么旧版要么新版，绝无半份；checksum 校验失败回退快照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37231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37231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695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4431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planning→running→suspended→completed + recovering/failed/cancelled，终态禁止再跑图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7142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57142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687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4342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超预算20%/高危夜行/严重舆情 → 挂起 → 主管抢占(Lua CAS) → 通过续跑/驳回终止；审批超时24h自动驳回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3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77053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8678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34253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LLM抽取三元组→upsert→向量+图双路检索→Redis缓存(0.3ms)，支持任意过敏原(香菜/花粉/青霉素)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96964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96964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669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54164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HMAC验签→nonce防重放→SETNX锁→三写一事务→节点入口应用补丁，干预成功率100%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6875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16875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2660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74075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JWT+RBAC(advisor/supervisor) + 注入检测 + 内容过滤 + 工具白名单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10/16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地理编码/POI搜索/路径规划/天气/营业时间/景点图片，全真实数据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37231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37231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695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4431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qwen3.7-flash，8 Agent 推理 + 记忆抽取（Mock 可切真实，压测不烧钱）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7142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57142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687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虚拟房价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4342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真实酒店 POI 名 + 城市等级分档估算价（一线/二线/其他三档）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3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77053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8678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业务表(6张)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34253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users / travel_plans / agent_tasks / review_records / budget_records / audit_logs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96964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96964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669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图记忆表(4张)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54164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graph_nodes / graph_edges / memory_events / interventions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6875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16875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2660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密钥安全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74075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.env 注入 + .gitignore 忽略，真实 key 不入 git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11/16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API(5组20+接口)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认证(register/login) / 行程(create/list/detail/status/agents/plan-file/report/cancel) / 审核(pending/claim/decision) / 记忆(工单7) / 运维(health/metrics)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intervene(强干预) / rollback(回滚) / graph(子图) / search(检索) / interventions(历史)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前端 6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登录注册 / 工作台 / 行程列表 / 行程详情 / 审核台 / 记忆图谱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景点图片(可放大) + 三餐餐饮 + 营业时间 + 日期 + 状态看板友好化(进度条+步骤卡片)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审核台亮点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表格内直出按钮(抢占/通过/驳回)，无隐藏抽屉，操作直观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12/16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双击 一键启动.bat → 自动构建+启动+打开浏览器；一键关闭.bat 停止；数据保留在 Docker 卷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api / worker / frontend / postgres / redis / prometheus / grafana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前端 8080 / API 文档 8001 / Grafana 3002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advisor_demo(顾问) / supervisor_demo(主管)，密码 wenlv123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nginx 根治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Docker DNS 动态解析，api 容器重建不 502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13/16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提交「3天杭州游」→ 8 Agent 执行(真实LLM+高德) → 报告含天气+路线+行程+餐饮+酒店+预算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Web Research 跑到第6页 kill -9 → 重启 → 从第7页续跑，前6页不重复请求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第7页含「忽略之前指令」对抗样本 → 拦截 → 标记 blocked → 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超预算/夜行/舆情 → 挂起 → 主管抢占 → 通过 → 续跑出报告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行程1说「海鲜过敏」→ 行程2自动避开；主管干预「台风停运」→ 运行中自动剔除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14/16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QPS 1109(≥200 ✅ 5.5x) / P95 35.4ms(&lt;300 ✅ 快8x) / 错误率 0%(&lt;0.1% ✅)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01214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401214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51094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58414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检索 P95 0.3ms(&lt;150 ✅ 快500x) / 干预成功率 100%(=100% 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5108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5108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494836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2308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8 个用例全绿(test_memory_intervention.py：三元组抽取/验签/embedding)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69002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369002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7873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26202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e2e_check / recovery_test / simulate_conversation(15轮) / concurrent(50并发) / verify_retrieve_latency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52896"/>
            <a:ext cx="11247120" cy="910742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52896"/>
            <a:ext cx="73152" cy="91074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46262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10096"/>
            <a:ext cx="10789920" cy="372912436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50 并发干预零丢失更新(Lost Update=0)，版本链完整可回放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15/16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2600" b="1">
                <a:solidFill>
                  <a:srgbClr val="1F2D3D"/>
                </a:solidFill>
              </a:defRPr>
            </a:pPr>
            <a: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27048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LangGraph（工单首选，7人日不允许自研图引擎）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37231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37231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46959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94431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Redis Streams（PEL 原生断点，比 Celery 轻）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57142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57142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687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14342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抽象 Provider，Mock→真实切换（压测不烧钱，演示切真模型）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3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77053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8678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34253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PostgreSQL 应用层向量（不引 Neo4j/pgvector，单机原则）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696964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696964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0669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记忆引擎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54164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自研轻量 Mem0 风格（3人日不允许消化外部框架黑盒）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16875"/>
            <a:ext cx="11247120" cy="74675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16875"/>
            <a:ext cx="73152" cy="74675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2660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强干预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974075"/>
            <a:ext cx="10789920" cy="22296638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HMAC + nonce + 三写事务（工单红线：安全验签）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16/16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3000" b="1">
                <a:solidFill>
                  <a:srgbClr val="1F2D3D"/>
                </a:solidFill>
              </a:defRPr>
            </a:pPr>
            <a: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175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30175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0906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0906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原始需求(多Agent-2) + 工单7(图记忆+强干预) 全部落地，验收级完整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7033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7033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7764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7764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全链路真实数据（高德+百炼），无假数据假智能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891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3891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4622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性能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4622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四项指标全部达标且大幅超标（QPS 5.5x / 检索快500x）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0749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50749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1480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工程价值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1480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从零到可交付：架构→开发→容器化→压测→文档→git 版本管理，10 次提交全程可追溯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60720"/>
            <a:ext cx="1051560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5760720"/>
            <a:ext cx="73152" cy="59436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83387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400" b="1">
                <a:solidFill>
                  <a:srgbClr val="0A3D91"/>
                </a:solidFill>
              </a:defRPr>
            </a:pPr>
            <a:r>
              <a:t>核心能力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83387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1F2D3D"/>
                </a:solidFill>
              </a:defRPr>
            </a:pPr>
            <a:r>
              <a:t>断点续传 + HITL + 图记忆 + 强干预 + 安全，五维完整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16/16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  <a:defRPr sz="1000" b="0">
                <a:solidFill>
                  <a:srgbClr val="8C8C8C"/>
                </a:solidFill>
              </a:defRPr>
            </a:pPr>
            <a:r>
              <a:t>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
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i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D0E4FF"/>
                </a:solidFill>
                <a:latin typeface="微软雅黑"/>
                <a:ea typeface="微软雅黑"/>
              </a:rPr>
              <a:t>基于 8 个 AI Agent 协作的文旅资源调研与个性化行程规划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B0D0F0"/>
                </a:solidFill>
                <a:latin typeface="微软雅黑"/>
                <a:ea typeface="微软雅黑"/>
              </a:rPr>
              <a:t>真实数据 · 断点续传 · 图记忆 · 运行态强干预 · HITL 人工审核 · 人群适配 · RAG 检索增强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0B0D0"/>
                </a:solidFill>
                <a:latin typeface="微软雅黑"/>
                <a:ea typeface="微软雅黑"/>
              </a:rPr>
              <a:t>版本 v4.0 · 2026-09-05 · 1 人独立完成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01  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02  项目痛点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03  项目目标与需求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5263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04  技术难点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05  项目亮点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06  系统架构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56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07  8 个 Agent 详解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229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08  核心技术实现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8990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09  数据源与数据模型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10  API 与前端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2140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11  部署与启动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8833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12  完整流程演示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55263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13  测试与验收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22191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14  设计决策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15  个性化人群适配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56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16  RAG 检索增强生成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5229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>
                <a:solidFill>
                  <a:srgbClr val="1F2D3D"/>
                </a:solidFill>
                <a:latin typeface="微软雅黑"/>
                <a:ea typeface="微软雅黑"/>
              </a:rPr>
              <a:t>17  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2/22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一、项目背景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业务背景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传统文旅靠人工查资料 + Excel 排行程，一个行程从需求到方案需几小时到一整天：手动搜景点、查口碑、排行程、算预算、查风险。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50057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三大业务痛点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15817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① 数据静态过时（查到的信息可能已过期）② 无风险拦截（可能推荐差评景点/超预算/夜行路段）③ 无容灾（查到一半崩溃全丢）。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9135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技术背景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57114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人工智能课程「多 Agent 协同」工单任务，分两期：多Agent-2（文旅规划主体）+ 工单7（图记忆与运行态强干预叠加）。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265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工期约束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8411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1 人独立完成，v1.0 共 7 人日 + 工单7 增量 3 人日，需做大量「最小增量、最大复用」的取舍决策。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3/22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二、项目痛点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痛点1：语义遗忘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用户第 1 次说「海鲜严重过敏」被记住，两周后再规划，系统忘了又推荐海鲜 —— 缺长期记忆（工单7 点名痛点）。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痛点2：状态不刷新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运行中某景点「台风停运」，系统不知道仍按旧信息编排 —— 缺运行态纠偏能力。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痛点3：长任务无容灾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8 个 Agent 跑几分钟，中途进程崩溃，前面工作全丢 —— 缺断点续传。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痛点4：无风险拦截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人工排行程可能推荐差评景点、超预算 45%、高危夜行路段 —— 缺 HITL 人机门控。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痛点5：假数据假智能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早期用写死种子数据 + Mock LLM，景点路线推理全是假的 —— 缺真实数据接入。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72383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72383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63823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痛点6：无人群适配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83863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不管老人还是儿童，行程千篇一律：老人被推荐去滑雪、儿童去酒吧、早餐排火锅、门票不按年龄分档。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727446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727446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1888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痛点7：知识不沉淀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38926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景区政策/地方美食靠写死代码或 LLM 记忆，改起来要改代码、会编造会过时 —— 缺 RAG 检索增强。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4/22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三、项目目标与需求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一句话目标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把「人工排行程」改造成「AI 自动调研工厂」：输入一句自然语言，8 个 AI Agent 自动完成调研、编排、预算、报告。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4851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4851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629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核心功能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2051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① 8 Agent 协同编排 ② planning-with-files 断点续传 ③ 五状态机+原子写入 ④ HITL 人工审核 ⑤ 安全（内容过滤+防注入）。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2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72382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工单7叠加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2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① 共享图记忆（跨行程沉淀知识图谱，修复语义遗忘）② 运行态强干预（主管带验签修改运行中状态）。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99913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99913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1353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人群个性化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57113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老人/儿童门票按年龄分档 + 交通购票按年龄分档 + 成人关系 + 儿童/老人景点过滤 + 兴趣标签推荐。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27444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27444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188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RAG 检索增强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4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pgvector + 百炼 embedding + 文旅知识库（6类语料）+ AI 目的地解读。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4975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4975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46415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性能红线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12175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QPS≥200 / P95&lt;300ms / 错误率&lt;0.1% / 检索&lt;150ms / 干预成功率=100%。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5/22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四、技术难点（1/2）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断点续传正确性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难点：进程随时可能崩溃(kill -9)，怎么保证不丢进度、不重复执行？解法：原子写入(temp→fsync→os.replace→目录fsync)保证任何时刻文件要么旧版要么新版，绝不半份；checksum 校验失败回退快照；已落库任务幂等不重跑。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50057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异步队列崩溃接管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15817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难点：Worker 崩了正在处理的消息怎么办？解法：Redis Streams consumer group + PEL(未确认消息清单) + XAUTOCLAIM(自动认领)，崩溃 worker 的未确认消息自动转给存活 worker。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9135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审核并发防重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57114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难点：两个主管同时审批同一行程，怎么防重复？解法：Lua CAS 抢占(状态原子转换) + DB 条件更新兜底 + 会话租约锁(带 token 防误删)，锁降冲突、DB 兜底保正确。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265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写入-入队竞态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8411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难点：API 写入行程后立即入队，Worker 抢在 DB commit 前消费，报「行程不存在」。解法：入队前显式 await db.commit()。本地单进程永远发现不了，只有容器化多进程才暴露。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6/22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四、技术难点（2/2）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图记忆抽取检索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98662937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难点：怎么把「我香菜过敏」抽成结构化三元组并跨行程召回？解法：真实 LLM 抽取(不限过敏原白名单) + 三元组 upsert + 向量/图双路检索 + Redis 缓存(0.3ms)。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72383"/>
            <a:ext cx="1124712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72383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63823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强干预安全原子性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9583"/>
            <a:ext cx="10789920" cy="98662937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难点：主管改运行中状态，既不越权又不并发错乱？解法：HMAC 验签 + nonce 防重放 + SETNX 排他锁 + 三写一事务 + 节点入口应用补丁，干预成功率 100%。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7446"/>
            <a:ext cx="1124712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27446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18886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真实数据接入的坑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84646"/>
            <a:ext cx="10789920" cy="98662937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难点：第三方 API 各种坑(key 类型/参数格式/限流/编码)。解法(实践踩坑)：高德 key 需拼参数、百炼 json_object 需含 json 字、nginx 缓存旧 IP 致 502 需 DNS 动态解析、百炼 embedding batch 上限是 10 不是 16。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7/22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五、项目亮点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全链路真实数据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高德(景点/路线/天气/营业时间/评分/图片) + 百炼LLM(qwen3.7-flash)，无假数据假智能。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人群个性化适配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老人按年龄分档门票 + 成人关系(情侣/家庭等) + 儿童/老人景点过滤 + 兴趣标签推荐 + 餐饮三餐规范(早餐不吃正餐、三餐不重复)。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完整行程规划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每日三餐餐饮 + 景点图片(可放大) + 营业时间 + 门票/人均价 + 真实完成时间 + 出发/返程日期自动算天数。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性能大幅超标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QPS 1109(5.5x)、P95 35ms(快8x)、检索0.3ms(快500x)、干预成功率100%，单行程约18秒。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工程细节扎实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原子写+checksum+快照、Lua CAS+DB兜底、防抖+幂等+超时+心跳、密钥安全注入。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工单7全量落地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图记忆+强干预，数据模型/引擎/API/前端/测试/文档完整闭环。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多角色+多语言+可编辑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游客/顾问/主管三角色 RBAC + 11国语言切换 + 手动编辑/删除行程。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精致前端视觉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真实风景壁纸 + 状态看板友好化(进度条+步骤卡片) + 品牌名山海行。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8/22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六、系统架构（6 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前端层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React 18 + TypeScript + AntD，6 个页面（登录/工作台/行程列表/详情/审核台/记忆图谱），WebSocket 实时推送。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4851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4851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629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API 网关层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2051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FastAPI + JWT/RBAC + 统一错误码 + HMAC 验签，只做入队/查询，不执行长任务。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2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72382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业务服务层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2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高德服务、原子写、分布式锁、队列、恢复、安全过滤等可复用逻辑。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99913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99913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1353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Agent 编排层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57113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LangGraph StateGraph + 8 节点 DAG + 条件边 + 记忆抽取 + 干预补丁读取。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27444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27444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188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4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PostgreSQL(pgvector,11表权威) + Redis(Streams/锁/缓存) + 文件(断点恢复源) + 知识库向量。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4975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4975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46415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外部数据源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12175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高德地图(地理编码/POI/路径/天气/图片) + 百炼 LLM(qwen3.7-flash) + Embedding(text-embedding-v3)。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9/22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七、8 个 Agent 详解（1/2）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① Intake 偏好解析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输入：用户需求(表单/语音/对话)。输出：结构化偏好(目的地/天数/预算/出行人明细/兴趣/成人关系)。技术：真实 LLM + JSON Schema 结构化输出，失败降级正则。附带记忆抽取沉淀过敏/偏好。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50057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② Planner 任务拆解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15817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输入：偏好。输出：≥10 条调研任务(景点/公园/博物馆/酒店/餐厅/早餐/快餐/购物/交通)。技术：CoT 思维链拆解，内置调研维度降级，幂等(已拆过不重复)。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9135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③ Web Research 调研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57114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输入：任务列表。输出：高德真实 POI(名称/地址/评分/营业时间/图片) + 知识库检索结果。技术：ReAct 逐项调研 + 安全过滤 + 断点续传 + RAG 检索注入。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265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④ Sentiment 舆情评估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8411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输入：真实 POI 列表。输出：风险标签(差评/强制购物/夜行等)。技术：规则引擎关键词打分，识别严重负面舆情供 HITL 触发。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10/22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七、8 个 Agent 详解（2/2）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⑤ Itinerary 日程编排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输入：POI + 偏好 + 出发地。输出：每日行程(上午/下午/晚上 + 三餐) + 往返交通 + 路线。技术：高德路径规划 + 人群过滤 + 门票分档 + 兴趣排序 + 读取干预补丁。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50057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⑥ Budget 预算计算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15817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输入：行程 + 天数。输出：分项预算(交通/住宿/门票/餐饮/其他) + 超支比例。技术：老人/儿童按年龄分档门票 + 虚拟房价，超预算 45% 触发审核。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9135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⑦ Human Review 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57114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输入：风险上下文(超预算/夜行/舆情)。输出：挂起人工审批。技术：不调 LLM，只做路由；主管抢占(Lua CAS)→通过续跑/驳回终止；审批超时 24h 自动驳回。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265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⑧ Report 报告生成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8411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输入：全部前序输出。输出：完整报告(概览/天气/交通/每日行程/餐饮/酒店/预算/数据来源)。技术：Markdown 渲染 + RAG 生成「目的地深度解读」+ 真实完成时间。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11/22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八、核心技术实现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断点续传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temp→fsync→os.replace→目录fsync，任何时刻崩溃文件要么旧版要么新版，绝无半份；checksum 校验失败回退快照。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五状态机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planning→running→suspended→completed + recovering/failed/cancelled，终态禁止再跑图。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HITL 门控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超预算45%/高危夜行/严重舆情 → 挂起 → 主管抢占(Lua CAS) → 通过续跑/驳回终止；审批超时24h自动驳回。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图记忆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LLM抽取三元组→upsert→向量+图双路检索→Redis缓存(0.3ms)，支持任意过敏原(香菜/花粉/青霉素)。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强干预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HMAC验签→nonce防重放→SETNX锁→三写一事务→节点入口应用补丁，干预成功率100%。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72383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72383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63823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城市规范化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83863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高德 geocode 把「河北沧州」规范为「沧州」，修复 POI 搜索误搜到省一级。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727446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727446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1888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38926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JWT+RBAC(游客/顾问/主管) + 注入检测 + 内容过滤 + 工具白名单。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12/22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九、数据源与数据模型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高德地图(1 key 6能力)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地理编码/POI搜索/路径规划/天气/营业时间/景点图片，全真实数据。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阿里云百炼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qwen3.7-flash，出发地/目的地解析 + 交通票价估算 + 记忆抽取 + RAG 生成（Mock 可切真实）。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百炼 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text-embedding-v3（768 维，OpenAI 兼容），语义向量化（图记忆 + 知识库）。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虚拟房价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真实酒店 POI 名 + 城市等级分档估算价（一线/二线/其他三档）。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虚拟门票/人均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景点门票按年龄分档（老人60-64半价/65+免首道、儿童6岁以下免/6-18半价）+ 餐厅人均参考价。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业务表(6张)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users / travel_plans / agent_tasks / review_records / budget_records / audit_logs。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图记忆表(4张)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graph_nodes / graph_edges / memory_events / interventions。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知识库表(1张)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document_chunks（10篇语料，61 chunk，Vector 768，含景点/美食/政策/季节/交通/住宿/注意事项）。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13/22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十、API 与前端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API(5组20+接口)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认证(register含角色/login) / 行程(create/list/detail/status/agents/plan-file/report/cancel/delete/PATCH itinerary) / 审核 / 记忆(工单7) / 运维。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4851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4851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629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记忆接口(工单7)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2051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intervene(强干预) / rollback(回滚) / graph(子图) / search(检索) / interventions(历史)。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2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72382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前端 10 页面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2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登录注册 / 工作台 / 行程列表 / 行程详情 / 审核台 / 记忆图谱 / 系统说明 / 语音创建 / 对话式创建。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99913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99913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1353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行程详情亮点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57113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出发地交通+票价 + 行程总览地图(高德，景点标记+按天分组+路线连线+切换) + 知识库检索(RAG) + 调研结果(真实POI) + 三餐餐饮 + 门票按年龄分档 + 优待备注 + 编辑行程。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27444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27444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188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创建表单亮点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4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成人关系 + 老人信息(年龄+性别+状态) + 儿童信息(年龄+身高+占座) + 学生学历 + 购票/酒店方式。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4975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4975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46415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三种创建方式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12175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新建表单 + 语音创建(浏览器语音识别) + 对话式创建(AI 主动引导，像 DeepSeek 一样聊天)。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14/22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十一、部署与启动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一键启动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双击 一键启动.bat → 自动构建+启动+打开浏览器；一键关闭.bat 停止；数据保留在 Docker 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4851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4851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629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7 个 Docker 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2051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api / worker / frontend / postgres / redis / prometheus / grafana。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2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72382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访问地址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2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前端 8080 / API 文档 8001 / Grafana 3002。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99913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99913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1353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演示账号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57113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advisor_demo(顾问) / supervisor_demo(主管)，密码 wenlv123；注册可自选游客/顾问身份。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27444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27444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188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多国语言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4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左下角切换 11 种语言（中/英/日/韩/法/德/西/俄/葡/意/阿）。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4975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4975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46415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nginx 根治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12175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Docker DNS 动态解析，api 容器重建不 502。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15/22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十二、完整流程演示（5 场景）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场景A 正常生成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提交「3天杭州游」→ 8 Agent 执行(真实LLM+高德) → 报告含天气+路线+行程+餐饮+酒店+预算。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场景B 崩溃恢复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Web Research 跑到第6页 kill -9 → 重启 → 从第7页续跑，前6页不重复请求。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场景C 注入拦截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第7页含「忽略之前指令」对抗样本 → 拦截 → 标记 blocked → 写审计日志。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场景D 人工审核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超预算/夜行/舆情 → 挂起 → 主管抢占 → 通过 → 续跑出报告。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场景E 图记忆+干预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行程1说「海鲜过敏」→ 行程2自动避开；主管干预「台风停运」→ 运行中自动剔除。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72383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72383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63823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场景F 人群适配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83863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带65岁老人+5岁儿童 → 老人门票免首道、儿童免票；剔除滑雪/酒吧；早餐吃地方特色早餐。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727446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727446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1888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场景G RAG增强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38926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检索知识库(门票政策+云南美食) → 报告生成「目的地深度解读」，有据可查、带人群感知。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16/22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十三、测试与验收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压测结果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QPS 1109(≥200 ✅ 5.5x) / P95 35.4ms(&lt;300 ✅ 快8x) / 错误率 0%(&lt;0.1% ✅)。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4851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4851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629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工单7 红线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2051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检索 P95 0.3ms(&lt;150 ✅ 快500x) / 干预成功率 100%(=100% ✅)。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2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72382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单元测试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2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8 个用例全绿(test_memory_intervention.py：三元组抽取/验签/embedding)。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99913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99913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1353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联调脚本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57113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e2e_check / recovery_test / simulate_conversation(15轮) / concurrent(50并发) / verify_retrieve_latency。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27444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27444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188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竞态审计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4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50 并发干预零丢失更新(Lost Update=0)，版本链完整可回放。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4975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4975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46415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RAG 检索评估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12175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eval_retrieval.py 跑 20 条测试集：Hit@5=95%、MRR=0.792（系统化评估，非口头宣称）。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17/22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十四、设计决策（关键取舍）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编排框架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LangGraph（工单首选，7人日不允许自研图引擎）。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50057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队列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0097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Redis Streams（PEL 原生断点，比 Celery 轻）。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135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11394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抽象 Provider，Mock→真实切换（压测不烧钱，演示切真模型）。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557784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2651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图存储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52691"/>
            <a:ext cx="5212080" cy="665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PostgreSQL + pgvector（不引 Neo4j，单机原则）。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Embedding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百炼 text-embedding-v3（768 维，复用现有 key，OpenAI 兼容）。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72383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72383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63823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记忆引擎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83863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自研轻量 Mem0 风格（3人日不允许消化外部框架黑盒）。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727446"/>
            <a:ext cx="5577840" cy="1581911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727446"/>
            <a:ext cx="73152" cy="1581911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1888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A3D91"/>
                </a:solidFill>
                <a:latin typeface="微软雅黑"/>
                <a:ea typeface="微软雅黑"/>
              </a:rPr>
              <a:t>强干预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38926"/>
            <a:ext cx="5212080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HMAC + nonce + 三写事务（工单红线：安全验签）。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18/22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十五、个性化人群适配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老人门票分档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按年龄：60 以下全价 / 60-64 半价 / 65+ 免首道大门票（国有A级景区规则），只免首道门票，观光车/索道/演出另计。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4851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4851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629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儿童门票分档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2051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6周岁以下或身高1.2米以下免首道大门票（二选一）、6-18半价；只免首道，民营景区以公示为准。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2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72382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交通购票分档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2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高铁(6岁以下免票不占座/6-14半价/14+全价)；飞机(婴儿票10%/儿童5折/12+成人)；学生票仅限家校往返。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99913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99913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1353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人群信息表单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57113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成人关系 + 老人(年龄+性别+状态) + 儿童(年龄+身高+占座) + 学生(学历) + 购票/酒店方式。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27444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27444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188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人群过滤+兴趣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4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有老人剔除滑雪/登山/雪山；有儿童剔除酒吧/夜店；兴趣标签+亲子/老人友好加权排序。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4975"/>
            <a:ext cx="11247120" cy="754379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4975"/>
            <a:ext cx="73152" cy="754379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46415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餐饮三餐规范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12175"/>
            <a:ext cx="10789920" cy="2299341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早餐只吃早餐类(不吃火锅/烤鸭)；早餐/快餐专门调研；三餐跨天不重复。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19/22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十六、RAG 检索增强生成（1/2）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技术底座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pgvector(PostgreSQL扩展) + 百炼 text-embedding-v3(768维) + OpenAI 兼容 /embeddings，batch=10 规避单次上限。图记忆 embedding 从 JSONB 换 Vector(768)，MD5哈希假向量换真语义向量。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8617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8617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50057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混合检索(R)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15817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双路召回：① 向量(pgvector 余弦距离，擅长语义相似) ② BM25(词频-逆文档频率，擅长精确名词如「迪士尼」)。两路用 RRF(Reciprocal Rank Fusion) 融合排序，取长补短。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9914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9914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9135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rerank 重排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57114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召回 top-k 后用百炼 qwen3.7-text-rerank 精排；网关未开放时降级关键词打分（真实现已写好，自动切换）。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1211"/>
            <a:ext cx="11247120" cy="1168145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41211"/>
            <a:ext cx="73152" cy="1168145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2651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知识库规模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8411"/>
            <a:ext cx="10789920" cy="608281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document_chunks 表存 10 篇语料、61 个分块、7 类(景点/美食/政策/季节/交通/住宿/注意事项)，全部 768 维真向量。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20/22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1F2D3D"/>
                </a:solidFill>
                <a:latin typeface="微软雅黑"/>
                <a:ea typeface="微软雅黑"/>
              </a:rPr>
              <a:t>十六、RAG 检索增强生成（2/2）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114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91988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91988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生成(G)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789920" cy="38127371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report 节点 _generate_rag_insights() 让 LLM 基于检索原文生成「目的地深度解读」(亮点/美食/老人儿童注意事项)，有据可查、带人群感知。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10358"/>
            <a:ext cx="11247120" cy="91988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10358"/>
            <a:ext cx="73152" cy="91988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0179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引用溯源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67558"/>
            <a:ext cx="10789920" cy="38127371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LLM 在每个具体信息后标注来源编号 [1][2]，报告末尾附「参考来源」对照表——内容来自知识库哪一篇一目了然。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03396"/>
            <a:ext cx="11247120" cy="91988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3396"/>
            <a:ext cx="73152" cy="91988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94836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检索质量评估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60596"/>
            <a:ext cx="10789920" cy="38127371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eval_retrieval.py 跑 20 条测试集，计算 Hit@k/MRR：Hit@5=95%、MRR=0.792，系统化可复现，非口头宣称。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96434"/>
            <a:ext cx="11247120" cy="91988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96434"/>
            <a:ext cx="73152" cy="91988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8787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前端展示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53634"/>
            <a:ext cx="10789920" cy="38127371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行程详情「知识库检索」标签页展示检索命中的 chunk(相似度分+检索方式) + AI 解读(带溯源)；Agent 流程图中调研/编排/报告三节点标 RAG 标记。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89472"/>
            <a:ext cx="11247120" cy="91988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89472"/>
            <a:ext cx="73152" cy="91988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8091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A3D91"/>
                </a:solidFill>
                <a:latin typeface="微软雅黑"/>
                <a:ea typeface="微软雅黑"/>
              </a:rPr>
              <a:t>降级安全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46672"/>
            <a:ext cx="10789920" cy="38127371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D3D"/>
                </a:solidFill>
                <a:latin typeface="微软雅黑"/>
                <a:ea typeface="微软雅黑"/>
              </a:rPr>
              <a:t>非 real 模式或检索为空或 LLM 失败时返回 None，报告照常出（只少一节），不阻塞主流程。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21/22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228600" cy="146304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1F2D3D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60320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73152" cy="50292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A3D91"/>
                </a:solidFill>
                <a:latin typeface="微软雅黑"/>
                <a:ea typeface="微软雅黑"/>
              </a:rPr>
              <a:t>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606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原始需求(多Agent-2) + 工单7(图记忆+强干预) + 人群适配 + RAG 检索增强 全部落地，验收级完整。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27248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27248"/>
            <a:ext cx="73152" cy="50292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7296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A3D91"/>
                </a:solidFill>
                <a:latin typeface="微软雅黑"/>
                <a:ea typeface="微软雅黑"/>
              </a:rPr>
              <a:t>数据真实性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729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全链路真实数据（高德+百炼 LLM+Embedding），无假数据假智能。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94176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94176"/>
            <a:ext cx="73152" cy="50292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39896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A3D91"/>
                </a:solidFill>
                <a:latin typeface="微软雅黑"/>
                <a:ea typeface="微软雅黑"/>
              </a:rPr>
              <a:t>个性化能力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3989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老人/儿童门票按年龄分档 + 交通购票分档 + 人群过滤 + 兴趣推荐 + 餐饮规范。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61104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261104"/>
            <a:ext cx="73152" cy="50292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0682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A3D91"/>
                </a:solidFill>
                <a:latin typeface="微软雅黑"/>
                <a:ea typeface="微软雅黑"/>
              </a:rPr>
              <a:t>RAG 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0682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pgvector + 混合检索(BM25+向量) + 引用溯源 + 知识库(61 chunk) + 评估(Hit@5=95%) 完整闭环。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28032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28032"/>
            <a:ext cx="73152" cy="50292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7375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A3D91"/>
                </a:solidFill>
                <a:latin typeface="微软雅黑"/>
                <a:ea typeface="微软雅黑"/>
              </a:rPr>
              <a:t>交互体验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87375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三种创建方式(表单/语音/对话) + 高德地图总览(按天分组+路线连线) + 11 国语言。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394960"/>
            <a:ext cx="73152" cy="50292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440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A3D91"/>
                </a:solidFill>
                <a:latin typeface="微软雅黑"/>
                <a:ea typeface="微软雅黑"/>
              </a:rPr>
              <a:t>性能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4406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四项指标全部达标且大幅超标（QPS 5.5x / 检索快500x）。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961888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961888"/>
            <a:ext cx="73152" cy="50292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00760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A3D91"/>
                </a:solidFill>
                <a:latin typeface="微软雅黑"/>
                <a:ea typeface="微软雅黑"/>
              </a:rPr>
              <a:t>核心能力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0076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F2D3D"/>
                </a:solidFill>
                <a:latin typeface="微软雅黑"/>
                <a:ea typeface="微软雅黑"/>
              </a:rPr>
              <a:t>断点续传 + HITL + 图记忆 + 强干预 + 安全 + 人群适配 + RAG，七维完整。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22/22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山海行 · 文旅多 Agent 行程规划系统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